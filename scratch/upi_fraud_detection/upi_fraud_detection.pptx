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4206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A623"/>
                </a:solidFill>
              </a:rPr>
              <a:t>Deep Learning for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UPI Fraud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0D8E8"/>
                </a:solidFill>
              </a:rPr>
              <a:t>Using Long Short-Term Memory (LSTM)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5A623"/>
                </a:solidFill>
              </a:rPr>
              <a:t>Sequential Account Takeover Detection  |  NPCI-Calibrated Synthetic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709160"/>
            <a:ext cx="26060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932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93.01%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4709160"/>
            <a:ext cx="26060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4754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0932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93.04%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4709160"/>
            <a:ext cx="26060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754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0932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79.85%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4709160"/>
            <a:ext cx="2606040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475488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ROC-AUC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50932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88.75%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Dataset: 80,000 synthetic UPI sessions  |  NPCI FY 2021-24  |  PyTorch LSTM  | 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Problem: UPI Fraud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India's Rs. 1,978 lakh crore digital payments ecosystem under attack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📌  Scale of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D0D8E8"/>
                </a:solidFill>
              </a:rPr>
              <a:t>▸  March 2024: UPI processed 13,113 million transactions worth Rs. 19,78,312 crore — a 56% YoY growth (NPCI, 2024)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D0D8E8"/>
                </a:solidFill>
              </a:rPr>
              <a:t>▸  Digital payment fraud = 42.3% of all cybercrime complaints in 2023 (I4C Annual Report, 2024)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D0D8E8"/>
                </a:solidFill>
              </a:rPr>
              <a:t>▸  UPI fraud growing faster than traditional channels; RBI reported Rs. 630 Cr+ losses in FY 2022-23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154680"/>
            <a:ext cx="11430000" cy="27432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246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🎯  The Account Takeover (ATO) Pattern — Why It's Hard to Detect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03320"/>
            <a:ext cx="265176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t=1–8
Normal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3703320"/>
            <a:ext cx="2651760" cy="1371600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3749039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t=9
Device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703320"/>
            <a:ext cx="2651760" cy="1371600"/>
          </a:xfrm>
          <a:prstGeom prst="rect">
            <a:avLst/>
          </a:prstGeom>
          <a:solidFill>
            <a:srgbClr val="6B3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749039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t=10–12
Velocity spike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3703320"/>
            <a:ext cx="2651760" cy="137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3749039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t=13–15
Draining transfers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2120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5A623"/>
                </a:solidFill>
              </a:rPr>
              <a:t>No single transaction is unambiguously fraudulent — only the temporal sequence reveals the attack.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669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8E8"/>
                </a:solidFill>
              </a:rPr>
              <a:t>LSTM's hidden state accumulates evidence across all 15 steps — rule-based systems and transaction-level classifiers cannot do this.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— NPCI-Calibrated Synthetic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80,000 sessions × 15 transactions × 12 features  |  23% fraud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NPCI Calibration Anchor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30 monthly data points: FY 2021-22, 2022-23, 2023-24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Derived avg transaction value: Rs. 1,612 per UPI transfer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Volume grew 5.2× over 3 years (2.5 Bn → 13 Bn/month)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Lognormal amount distribution centred on Rs. 1,612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12 Transaction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amount, hour_of_day, day_of_week, is_weekend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is_late_night, is_new_payee, device_changed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high_amount_flag, txn_velocity, time_since_last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• cumulative_amount_ratio, payee_familiarity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20440"/>
            <a:ext cx="11430000" cy="27432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Design Choices for Realism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23360"/>
            <a:ext cx="109728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  7% Label Noise: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069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Simulates real-world label ambiguity — prevents threshold memorisation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617720"/>
            <a:ext cx="109728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  15% Subtle Fraud: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6634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Fraud without device change — forces LSTM to learn multiple fraud signatures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12080"/>
            <a:ext cx="109728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  20% Normal Noise Events: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2578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Legitimate users sometimes change devices — prevents over-separation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806440"/>
            <a:ext cx="109728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  pos_weight capped at 5.0: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8521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Controls FP rate for operational deployment — precision vs. recall balance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LSTM Architecture — FraudLSTM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2-layer stacked LSTM (128 units) → FC classifier head  |  147,777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Architecture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3035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910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5910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(batch, 15, 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6537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15 steps × 12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12848"/>
            <a:ext cx="53035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94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LSTM Layer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494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hidden=128, dropout=0.3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2374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Learns short-range temporal patterns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71216"/>
            <a:ext cx="53035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077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LSTM Layer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907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hidden=128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82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Learns higher-order sequential patterns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29584"/>
            <a:ext cx="53035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Last Hidden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566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(batch, 128)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Summarises full 15-step sequence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87952"/>
            <a:ext cx="53035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24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Dropout (30%)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224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Regularisation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988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Prevents co-adaptation of neurons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46320"/>
            <a:ext cx="53035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8828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FC: 128 → 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8828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+ BatchNorm + ReLU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5721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Compresses to classification representation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504688"/>
            <a:ext cx="53035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5412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5412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1 logit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81558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BCEWithLogitsLoss (sigmoid implicit)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Why LSTM?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🔹  Forget / input / output gates explicitly control what information is retained across steps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🔹  Connects device change at step 9 to large transfers at steps 13–15 (6-step span)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🔹  Standard RNNs fail on long sequences due to vanishing gradients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Training Configuration: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  • Optimizer: Adam  (lr=1e-3, weight_decay=1e-5)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  • LR Scheduler: StepLR (step=5, gamma=0.5)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  • Gradient clipping: max_norm=1.0 (prevents exploding gradients in RNNs)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0D8E8"/>
                </a:solidFill>
              </a:rPr>
              <a:t>  • Epochs: 20  |  Batch size: 256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— Test Set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Evaluated on 16,000 held-out sessions  |  TN=11,461  FP=256  FN=863  TP=3,420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249424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270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93.01%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143000"/>
            <a:ext cx="2249424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188720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5270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93.04%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143000"/>
            <a:ext cx="2249424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188720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5270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79.85%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143000"/>
            <a:ext cx="2249424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188720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F1-Score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5270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85.94%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143000"/>
            <a:ext cx="2249424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1188720"/>
            <a:ext cx="2066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ROC-AUC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1527048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88.75%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423160"/>
            <a:ext cx="11430000" cy="27432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Confusion Matrix Interpretation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26080"/>
            <a:ext cx="530352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TN = 11,461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Legitimate sessions correctly passed — zero friction for real users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926080"/>
            <a:ext cx="530352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FP = 256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False alerts — 2.18% of legitimate sessions incorrectly flagged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40480"/>
            <a:ext cx="530352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FN = 863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Missed fraud — 20.15% of fraud sessions escape detection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840480"/>
            <a:ext cx="530352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TP = 3,420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Fraud correctly caught — 79.85% of all ATO attempts blocked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760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5A623"/>
                </a:solidFill>
              </a:rPr>
              <a:t>ROC-AUC 88.75%: if a fraud and legitimate session are drawn at random, the model ranks fraud as more suspicious with 88.75% probability.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Managerial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Deploying LSTM fraud detection in an Indian bank's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Tiered Response System (avoid blocking legitimate customers)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56616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0D8E8"/>
                </a:solidFill>
              </a:rPr>
              <a:t>Score &lt; 0.30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Pass 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No friction for low-risk sessions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9" y="1600200"/>
            <a:ext cx="356616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39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Score 0.30–0.65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39" y="20116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Enhanced logging
+ async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39" y="2606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Flag for fraud ops team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38" y="1600200"/>
            <a:ext cx="3566160" cy="1645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8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74C3C"/>
                </a:solidFill>
              </a:rPr>
              <a:t>Score &gt; 0.65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8" y="20116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Step-up auth
(OTP / biometric)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8" y="2606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Immediate friction for high-risk sessions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20440"/>
            <a:ext cx="11430000" cy="27432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Precision vs. Recall — Business Choice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2336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▸  Retail Bank (Consumer-First): raise threshold to 0.65 → FPR &lt; 1%, TPR ≈ 70% — protect customer experience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▸  Payments Aggregator (Fraud-First): lower threshold to 0.35 → TPR ≈ 88%, FPR ≈ 5% — maximise fraud catch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▸  ROC curve provides the full precision-recall menu — banks choose their operating point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D8E8"/>
                </a:solidFill>
              </a:rPr>
              <a:t>▸  RBI Master Direction on Digital Payment Security (2021) requires real-time fraud monitoring — LSTM directly addresses this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Conclusions &amp;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</a:rPr>
              <a:t>What was achieved and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✅  Key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93.01% accuracy / 88.75% ROC-AUC on NPCI-calibrated UPI fraud detection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15-step ATO session model that learns fraud as a temporal narrative, not isolated anomalies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Production-conscious design: gradient clipping, pos_weight cap, label noise, BatchNorm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Threshold selection framework directly usable by bank fraud ops teams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337560"/>
            <a:ext cx="11430000" cy="27432"/>
          </a:xfrm>
          <a:prstGeom prst="rect">
            <a:avLst/>
          </a:prstGeom>
          <a:solidFill>
            <a:srgbClr val="0F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429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🚀  Future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Graph Neural Network Integration: payee network features to catch coordinated fraud rings (Wang et al., 2021)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Bidirectional LSTM + Attention: identify which transaction step triggers the fraud signal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Federated Learning: multi-bank collaboration without sharing customer data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D0D8E8"/>
                </a:solidFill>
              </a:rPr>
              <a:t>▸  Online Learning: continuous retraining as new confirmed fraud cases arrive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