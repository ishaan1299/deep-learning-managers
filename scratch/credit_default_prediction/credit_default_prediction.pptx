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623"/>
                </a:solidFill>
              </a:rPr>
              <a:t>Deep Learning for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Credit Default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D8E8"/>
                </a:solidFill>
              </a:rPr>
              <a:t>Using Artificial Neural Networks (ANN)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</a:rPr>
              <a:t>Predicting NPA Risk in Indian Banking  |  P1 → P4 Four-Class 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91.23%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92.68%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91.45%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0.9933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Dataset: ~51,000 Indian bank borrowers  |  PyTorch MLP  | 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India's NPA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Why credit default prediction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📌  The 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FY 2018: Gross NPA ratio of Public Sector Banks peaked at 11.6% — Rs. 9.62 lakh crore of bad loans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FY 2023: NPAs fell to 5.0%, but absolute stock still exceeds Rs. 6 lakh crore (RBI, 2023)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Annual provisioning cost: Rs. 2.2–2.8 lakh crore locked in non-productive capital (Basel Committee, 2017)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One bad loan costs the bank 4–6× the original loan amount when all downstream effects are counted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9184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🎯  Why Deep Learning?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Traditional scorecards use CIBIL score alone — miss internal bank behavioural signals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Binary (default / no-default) outputs don't map to bank's operational pricing tiers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ANN learns non-linear interactions: e.g., high salary + low CIBIL + recent SMA flag = high risk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Data fusion of internal bank data (29 cols) + CIBIL bureau data (40 cols) gives a 360° customer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~51,000 Indian retail borrowers — merged internal + CIBIL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Internal Bank Dataset  (29 features)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Total_TL — total trade lines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pct_tl_open_L6M — new credit in 6 months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CC_utilization_pct — credit card usage 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num_tl_90dpd_6m — 90-day delinquencies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num_tl_30dpd — 30-day late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External CIBIL Dataset  (40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CIBIL_SCORE_EQUIV — bureau score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num_deliq_6mts — delinquencies (bureau)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pct_PL_enq_L6m — personal loan inquiries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time_since_recent_payment — recency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Target: Approved_Flag (P1 / P2 / P3 / P4)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2044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Target Class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P1 — Best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24.4%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8E8"/>
                </a:solidFill>
              </a:rPr>
              <a:t>Auto-approve, lowest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023360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</a:rPr>
              <a:t>P2 — 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846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8E8"/>
                </a:solidFill>
              </a:rPr>
              <a:t>Standard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023360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P3 — 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26.9%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46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8E8"/>
                </a:solidFill>
              </a:rPr>
              <a:t>Risk premium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4023360"/>
            <a:ext cx="26974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P4 — High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11.1%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846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8E8"/>
                </a:solidFill>
              </a:rPr>
              <a:t>Reject / collateral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Multi-Layer Perceptron — Input(93) → [128 → 64 → 32] → Output(4)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Network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0292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Input Layer  (93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Scaled with StandardScaler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0292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Layer 1  (128 neurons)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BatchNorm + ReLU + Dropout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50292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Layer 2  (64 neurons)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BatchNorm + ReLU + Dropout 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40"/>
            <a:ext cx="50292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Layer 3  (32 neurons)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BatchNorm + ReLU + Dropout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0292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Layer  (4 logits)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CrossEntropyLoss (softmax implicit)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Training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Optimizer: Adam  (lr=0.001, weight_decay=1e-5)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Loss: CrossEntropyLoss with inverse-freq class weights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P4 class weight: 2.25×  (penalise missed defaults)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Epochs: 20  |  Batch size: 64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Train / Test split: 80 / 20  (stratified)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Total parameters: 23,428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🔹  Framework: PyTorch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Key Design Rationale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• Funnel shape (128→64→32): compresses 93 features into abstract risk archetypes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• Dropout prevents overfitting on 40K training samples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Test 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Evaluated on 10,268 held-out borrowers never seen during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91.23%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92.68%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91.23%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91.45%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0.9933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231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Business Value Quantification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9260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On a Rs. 500 Cr quarterly loan portfolio, the ANN reduces NPA rate from ~11% (no model) to ~1.5%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Estimated quarterly savings in provisioning costs: Rs. 7.13 Crore vs. no model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ROC-AUC 0.9933 vs. ~0.82 for logistic regression — deep learning advantage is measurable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Near-zero P1↔P4 cross-tier misclassification: model never confuses an excellent borrower with a defaulter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Confusion Matrix Highlights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P1 (Best borrowers): near-perfect recall — bank will not wrongly reject excellent customers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P4 (High Risk): strong recall — most defaulters are caught before disbursement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Managerial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How the ANN translates to credit operations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💰  Risk-Based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P1 (prob &gt; 85%): 9.0–9.5% rate — steal market share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P3 (prob &gt; 60%): 13.0–14.5% — risk premium offsets default cost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P4 (prob &gt; 50%): Reject or require collateral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⚡  Zero-Touch Underwriting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Top 20% P1 applicants (prob &gt; 92%): instant auto-approval in &lt; 3 seconds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Reduces TAT from 3–5 days to milliseconds for best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📊  CFO Capital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Run ANN on live loan book quarterly to forecast P2→P4 migrations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Pre-calculate RBI provisioning requirements before quarter-end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🗺️  Regional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Deploy region-specific thresholds: stricter in high-NPA belts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Urban growth zones: accept P3 with income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What was achieved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✅  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91.23% accuracy / ROC-AUC 0.9933 on 4-class credit risk prediction on Indian banking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Data fusion pipeline: internal bank (29 cols) + CIBIL (40 cols) → 93 engineered features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Quantified Rs. 7.13 Cr quarterly savings on a Rs. 500 Cr portfolio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Production-ready Flask API + browser demo for live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🚀  Future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XAI with SHAP: per-applicant feature attribution to satisfy RBI explainability requirements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LSTM-based temporal scoring: process 12–24 months of behaviour as time series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Alternative data: UPI velocity + GST filing via RBI's Account Aggregator / OCEN framework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Federated learning: pan-Indian credit model with data privacy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